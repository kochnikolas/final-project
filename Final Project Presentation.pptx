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0"/>
  </p:notesMasterIdLst>
  <p:sldIdLst>
    <p:sldId id="256" r:id="rId2"/>
    <p:sldId id="263" r:id="rId3"/>
    <p:sldId id="257" r:id="rId4"/>
    <p:sldId id="258" r:id="rId5"/>
    <p:sldId id="259" r:id="rId6"/>
    <p:sldId id="260" r:id="rId7"/>
    <p:sldId id="261" r:id="rId8"/>
    <p:sldId id="262" r:id="rId9"/>
  </p:sldIdLst>
  <p:sldSz cx="9144000" cy="5143500" type="screen16x9"/>
  <p:notesSz cx="6858000" cy="9144000"/>
  <p:embeddedFontLst>
    <p:embeddedFont>
      <p:font typeface="Franklin Gothic Book" panose="020B0503020102020204" pitchFamily="34" charset="0"/>
      <p:regular r:id="rId11"/>
      <p:italic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4"/>
    <p:restoredTop sz="94708"/>
  </p:normalViewPr>
  <p:slideViewPr>
    <p:cSldViewPr snapToGrid="0">
      <p:cViewPr>
        <p:scale>
          <a:sx n="138" d="100"/>
          <a:sy n="138" d="100"/>
        </p:scale>
        <p:origin x="1800" y="12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a221220b5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221220b5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221220b5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a221220b5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a221220b5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a221220b5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221220b5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a221220b5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221220b5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a221220b5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a221220b5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a221220b5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341340"/>
            <a:ext cx="6270922" cy="1573670"/>
          </a:xfrm>
        </p:spPr>
        <p:txBody>
          <a:bodyPr anchor="b">
            <a:noAutofit/>
          </a:bodyPr>
          <a:lstStyle>
            <a:lvl1pPr algn="ctr">
              <a:defRPr sz="54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2967210"/>
            <a:ext cx="5123755" cy="814678"/>
          </a:xfrm>
        </p:spPr>
        <p:txBody>
          <a:bodyPr>
            <a:normAutofit/>
          </a:bodyPr>
          <a:lstStyle>
            <a:lvl1pPr marL="0" indent="0" algn="ctr">
              <a:lnSpc>
                <a:spcPct val="112000"/>
              </a:lnSpc>
              <a:spcBef>
                <a:spcPts val="0"/>
              </a:spcBef>
              <a:spcAft>
                <a:spcPts val="0"/>
              </a:spcAft>
              <a:buNone/>
              <a:defRPr sz="1725"/>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3" y="4840039"/>
            <a:ext cx="1205958" cy="303461"/>
          </a:xfrm>
        </p:spPr>
        <p:txBody>
          <a:bodyPr/>
          <a:lstStyle>
            <a:lvl1pPr>
              <a:defRPr baseline="0">
                <a:solidFill>
                  <a:schemeClr val="tx2"/>
                </a:solidFill>
              </a:defRPr>
            </a:lvl1pPr>
          </a:lstStyle>
          <a:p>
            <a:fld id="{87DE6118-2437-4B30-8E3C-4D2BE6020583}" type="datetimeFigureOut">
              <a:rPr lang="en-US" dirty="0"/>
              <a:pPr/>
              <a:t>12/8/25</a:t>
            </a:fld>
            <a:endParaRPr lang="en-US" dirty="0"/>
          </a:p>
        </p:txBody>
      </p:sp>
      <p:sp>
        <p:nvSpPr>
          <p:cNvPr id="5" name="Footer Placeholder 4"/>
          <p:cNvSpPr>
            <a:spLocks noGrp="1"/>
          </p:cNvSpPr>
          <p:nvPr>
            <p:ph type="ftr" sz="quarter" idx="11"/>
          </p:nvPr>
        </p:nvSpPr>
        <p:spPr>
          <a:xfrm>
            <a:off x="1938041" y="4840039"/>
            <a:ext cx="5267533" cy="303461"/>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4840039"/>
            <a:ext cx="1197219" cy="303461"/>
          </a:xfrm>
        </p:spPr>
        <p:txBody>
          <a:bodyPr/>
          <a:lstStyle>
            <a:lvl1pPr>
              <a:defRPr baseline="0">
                <a:solidFill>
                  <a:schemeClr val="tx2"/>
                </a:solidFill>
              </a:defRPr>
            </a:lvl1pPr>
          </a:lstStyle>
          <a:p>
            <a:pPr marL="0" lvl="0" indent="0" algn="r" rtl="0">
              <a:spcBef>
                <a:spcPts val="0"/>
              </a:spcBef>
              <a:spcAft>
                <a:spcPts val="0"/>
              </a:spcAft>
              <a:buNone/>
            </a:pPr>
            <a:fld id="{00000000-1234-1234-1234-123412341234}" type="slidenum">
              <a:rPr lang="de" smtClean="0"/>
              <a:t>‹#›</a:t>
            </a:fld>
            <a:endParaRPr lang="de"/>
          </a:p>
        </p:txBody>
      </p:sp>
      <p:grpSp>
        <p:nvGrpSpPr>
          <p:cNvPr id="7" name="Group 6"/>
          <p:cNvGrpSpPr/>
          <p:nvPr/>
        </p:nvGrpSpPr>
        <p:grpSpPr>
          <a:xfrm>
            <a:off x="564644" y="558352"/>
            <a:ext cx="8005588" cy="4012253"/>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24023106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18106382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976020"/>
            <a:ext cx="7209728" cy="2139553"/>
          </a:xfrm>
        </p:spPr>
        <p:txBody>
          <a:bodyPr anchor="b">
            <a:normAutofit/>
          </a:bodyPr>
          <a:lstStyle>
            <a:lvl1pPr algn="r">
              <a:defRPr sz="54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3162246"/>
            <a:ext cx="7209728" cy="857493"/>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4181" y="4840039"/>
            <a:ext cx="1216807" cy="303461"/>
          </a:xfrm>
        </p:spPr>
        <p:txBody>
          <a:bodyPr/>
          <a:lstStyle>
            <a:lvl1pPr>
              <a:defRPr>
                <a:solidFill>
                  <a:schemeClr val="tx2"/>
                </a:solidFill>
              </a:defRPr>
            </a:lvl1pPr>
          </a:lstStyle>
          <a:p>
            <a:fld id="{87DE6118-2437-4B30-8E3C-4D2BE6020583}" type="datetimeFigureOut">
              <a:rPr lang="en-US" dirty="0"/>
              <a:pPr/>
              <a:t>12/8/25</a:t>
            </a:fld>
            <a:endParaRPr lang="en-US" dirty="0"/>
          </a:p>
        </p:txBody>
      </p:sp>
      <p:sp>
        <p:nvSpPr>
          <p:cNvPr id="5" name="Footer Placeholder 4"/>
          <p:cNvSpPr>
            <a:spLocks noGrp="1"/>
          </p:cNvSpPr>
          <p:nvPr>
            <p:ph type="ftr" sz="quarter" idx="11"/>
          </p:nvPr>
        </p:nvSpPr>
        <p:spPr>
          <a:xfrm>
            <a:off x="1938234" y="4840039"/>
            <a:ext cx="5267533" cy="303461"/>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4840039"/>
            <a:ext cx="1197219" cy="303461"/>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de" smtClean="0"/>
              <a:t>‹#›</a:t>
            </a:fld>
            <a:endParaRPr lang="de"/>
          </a:p>
        </p:txBody>
      </p:sp>
      <p:sp>
        <p:nvSpPr>
          <p:cNvPr id="7" name="Freeform 6" title="Crop Mark"/>
          <p:cNvSpPr/>
          <p:nvPr/>
        </p:nvSpPr>
        <p:spPr bwMode="auto">
          <a:xfrm>
            <a:off x="6113972" y="1264239"/>
            <a:ext cx="2456260" cy="3306366"/>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04786685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1714500"/>
            <a:ext cx="3335840" cy="268605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1714500"/>
            <a:ext cx="3335840" cy="268605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31487245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514350"/>
            <a:ext cx="7200900" cy="1114425"/>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1755648"/>
            <a:ext cx="3332988" cy="617934"/>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28700" y="2478906"/>
            <a:ext cx="3332988" cy="192164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1" y="1755648"/>
            <a:ext cx="3332988" cy="617934"/>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93761" y="2478906"/>
            <a:ext cx="3332988" cy="192164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255616876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156884053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1244081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282"/>
            <a:ext cx="3977640" cy="5143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514350"/>
            <a:ext cx="2891790" cy="1618413"/>
          </a:xfrm>
        </p:spPr>
        <p:txBody>
          <a:bodyPr anchor="t">
            <a:noAutofit/>
          </a:bodyPr>
          <a:lstStyle>
            <a:lvl1pPr>
              <a:lnSpc>
                <a:spcPct val="84000"/>
              </a:lnSpc>
              <a:defRPr sz="36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514350"/>
            <a:ext cx="3909060" cy="3881438"/>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142258"/>
            <a:ext cx="2891790" cy="2258292"/>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4840039"/>
            <a:ext cx="903429" cy="303461"/>
          </a:xfrm>
        </p:spPr>
        <p:txBody>
          <a:bodyPr/>
          <a:lstStyle>
            <a:lvl1pPr>
              <a:defRPr>
                <a:solidFill>
                  <a:schemeClr val="tx2"/>
                </a:solidFill>
              </a:defRPr>
            </a:lvl1pPr>
          </a:lstStyle>
          <a:p>
            <a:fld id="{87DE6118-2437-4B30-8E3C-4D2BE6020583}" type="datetimeFigureOut">
              <a:rPr lang="en-US" dirty="0"/>
              <a:pPr/>
              <a:t>12/8/25</a:t>
            </a:fld>
            <a:endParaRPr lang="en-US" dirty="0"/>
          </a:p>
        </p:txBody>
      </p:sp>
      <p:sp>
        <p:nvSpPr>
          <p:cNvPr id="6" name="Footer Placeholder 5"/>
          <p:cNvSpPr>
            <a:spLocks noGrp="1"/>
          </p:cNvSpPr>
          <p:nvPr>
            <p:ph type="ftr" sz="quarter" idx="11"/>
          </p:nvPr>
        </p:nvSpPr>
        <p:spPr>
          <a:xfrm>
            <a:off x="1654459" y="4840039"/>
            <a:ext cx="1780256" cy="303461"/>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4840039"/>
            <a:ext cx="1197219" cy="303461"/>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de" smtClean="0"/>
              <a:t>‹#›</a:t>
            </a:fld>
            <a:endParaRPr lang="de"/>
          </a:p>
        </p:txBody>
      </p:sp>
      <p:sp>
        <p:nvSpPr>
          <p:cNvPr id="9" name="Rectangle 8" title="Divider Bar"/>
          <p:cNvSpPr/>
          <p:nvPr/>
        </p:nvSpPr>
        <p:spPr>
          <a:xfrm>
            <a:off x="3977640"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9737562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282"/>
            <a:ext cx="3977640" cy="5143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514350"/>
            <a:ext cx="2891790" cy="1618413"/>
          </a:xfrm>
        </p:spPr>
        <p:txBody>
          <a:bodyPr anchor="t">
            <a:normAutofit/>
          </a:bodyPr>
          <a:lstStyle>
            <a:lvl1pPr>
              <a:lnSpc>
                <a:spcPct val="84000"/>
              </a:lnSpc>
              <a:defRPr sz="36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51434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141976"/>
            <a:ext cx="2891790" cy="2258574"/>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4840039"/>
            <a:ext cx="903429" cy="303461"/>
          </a:xfrm>
        </p:spPr>
        <p:txBody>
          <a:bodyPr/>
          <a:lstStyle>
            <a:lvl1pPr>
              <a:defRPr>
                <a:solidFill>
                  <a:schemeClr val="tx2"/>
                </a:solidFill>
              </a:defRPr>
            </a:lvl1pPr>
          </a:lstStyle>
          <a:p>
            <a:fld id="{87DE6118-2437-4B30-8E3C-4D2BE6020583}" type="datetimeFigureOut">
              <a:rPr lang="en-US" dirty="0"/>
              <a:pPr/>
              <a:t>12/8/25</a:t>
            </a:fld>
            <a:endParaRPr lang="en-US" dirty="0"/>
          </a:p>
        </p:txBody>
      </p:sp>
      <p:sp>
        <p:nvSpPr>
          <p:cNvPr id="6" name="Footer Placeholder 5"/>
          <p:cNvSpPr>
            <a:spLocks noGrp="1"/>
          </p:cNvSpPr>
          <p:nvPr>
            <p:ph type="ftr" sz="quarter" idx="11"/>
          </p:nvPr>
        </p:nvSpPr>
        <p:spPr>
          <a:xfrm>
            <a:off x="1654459" y="4840039"/>
            <a:ext cx="1780256" cy="303461"/>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4840039"/>
            <a:ext cx="1197219" cy="303461"/>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de" smtClean="0"/>
              <a:t>‹#›</a:t>
            </a:fld>
            <a:endParaRPr lang="de"/>
          </a:p>
        </p:txBody>
      </p:sp>
      <p:sp>
        <p:nvSpPr>
          <p:cNvPr id="9" name="Rectangle 8" title="Divider Bar"/>
          <p:cNvSpPr/>
          <p:nvPr/>
        </p:nvSpPr>
        <p:spPr>
          <a:xfrm>
            <a:off x="3977640"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08971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1721644"/>
            <a:ext cx="7200900" cy="26789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14628350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7421" y="468117"/>
            <a:ext cx="1174325" cy="393243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468117"/>
            <a:ext cx="6134731" cy="39324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 smtClean="0"/>
              <a:t>‹#›</a:t>
            </a:fld>
            <a:endParaRPr lang="de"/>
          </a:p>
        </p:txBody>
      </p:sp>
    </p:spTree>
    <p:extLst>
      <p:ext uri="{BB962C8B-B14F-4D97-AF65-F5344CB8AC3E}">
        <p14:creationId xmlns:p14="http://schemas.microsoft.com/office/powerpoint/2010/main" val="42795580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1"/>
        <p:cNvGrpSpPr/>
        <p:nvPr/>
      </p:nvGrpSpPr>
      <p:grpSpPr>
        <a:xfrm>
          <a:off x="0" y="0"/>
          <a:ext cx="0" cy="0"/>
          <a:chOff x="0" y="0"/>
          <a:chExt cx="0" cy="0"/>
        </a:xfrm>
      </p:grpSpPr>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a:t>
            </a:fld>
            <a:endParaRPr/>
          </a:p>
        </p:txBody>
      </p:sp>
    </p:spTree>
    <p:extLst>
      <p:ext uri="{BB962C8B-B14F-4D97-AF65-F5344CB8AC3E}">
        <p14:creationId xmlns:p14="http://schemas.microsoft.com/office/powerpoint/2010/main" val="3714821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514350"/>
            <a:ext cx="7200900" cy="111442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1714500"/>
            <a:ext cx="7200900" cy="2686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4840039"/>
            <a:ext cx="903429" cy="303461"/>
          </a:xfrm>
          <a:prstGeom prst="rect">
            <a:avLst/>
          </a:prstGeom>
        </p:spPr>
        <p:txBody>
          <a:bodyPr vert="horz" lIns="91440" tIns="45720" rIns="91440" bIns="45720" rtlCol="0" anchor="ctr"/>
          <a:lstStyle>
            <a:lvl1pPr algn="l">
              <a:defRPr sz="900" baseline="0">
                <a:solidFill>
                  <a:schemeClr val="tx2"/>
                </a:solidFill>
              </a:defRPr>
            </a:lvl1pPr>
          </a:lstStyle>
          <a:p>
            <a:fld id="{87DE6118-2437-4B30-8E3C-4D2BE6020583}" type="datetimeFigureOut">
              <a:rPr lang="en-US" dirty="0"/>
              <a:pPr/>
              <a:t>12/8/25</a:t>
            </a:fld>
            <a:endParaRPr lang="en-US" dirty="0"/>
          </a:p>
        </p:txBody>
      </p:sp>
      <p:sp>
        <p:nvSpPr>
          <p:cNvPr id="5" name="Footer Placeholder 4"/>
          <p:cNvSpPr>
            <a:spLocks noGrp="1"/>
          </p:cNvSpPr>
          <p:nvPr>
            <p:ph type="ftr" sz="quarter" idx="3"/>
          </p:nvPr>
        </p:nvSpPr>
        <p:spPr>
          <a:xfrm>
            <a:off x="2170173" y="4840039"/>
            <a:ext cx="4710623" cy="303461"/>
          </a:xfrm>
          <a:prstGeom prst="rect">
            <a:avLst/>
          </a:prstGeom>
        </p:spPr>
        <p:txBody>
          <a:bodyPr vert="horz" lIns="91440" tIns="45720" rIns="91440" bIns="45720" rtlCol="0" anchor="ctr"/>
          <a:lstStyle>
            <a:lvl1pPr algn="l">
              <a:defRPr sz="9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7104552" y="4840039"/>
            <a:ext cx="1197219" cy="303461"/>
          </a:xfrm>
          <a:prstGeom prst="rect">
            <a:avLst/>
          </a:prstGeom>
        </p:spPr>
        <p:txBody>
          <a:bodyPr vert="horz" lIns="91440" tIns="45720" rIns="91440" bIns="45720" rtlCol="0" anchor="ctr"/>
          <a:lstStyle>
            <a:lvl1pPr algn="r">
              <a:defRPr sz="900" baseline="0">
                <a:solidFill>
                  <a:schemeClr val="tx2"/>
                </a:solidFill>
              </a:defRPr>
            </a:lvl1pPr>
          </a:lstStyle>
          <a:p>
            <a:pPr marL="0" lvl="0" indent="0" algn="r" rtl="0">
              <a:spcBef>
                <a:spcPts val="0"/>
              </a:spcBef>
              <a:spcAft>
                <a:spcPts val="0"/>
              </a:spcAft>
              <a:buNone/>
            </a:pPr>
            <a:fld id="{00000000-1234-1234-1234-123412341234}" type="slidenum">
              <a:rPr lang="de" smtClean="0"/>
              <a:t>‹#›</a:t>
            </a:fld>
            <a:endParaRPr lang="de"/>
          </a:p>
        </p:txBody>
      </p:sp>
      <p:sp>
        <p:nvSpPr>
          <p:cNvPr id="9" name="Rectangle 8" title="Side bar"/>
          <p:cNvSpPr/>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01658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685800" rtl="0" eaLnBrk="1" latinLnBrk="0" hangingPunct="1">
        <a:lnSpc>
          <a:spcPct val="89000"/>
        </a:lnSpc>
        <a:spcBef>
          <a:spcPct val="0"/>
        </a:spcBef>
        <a:buNone/>
        <a:defRPr sz="3300" kern="1200" baseline="0">
          <a:solidFill>
            <a:schemeClr val="tx2"/>
          </a:solidFill>
          <a:latin typeface="+mj-lt"/>
          <a:ea typeface="+mj-ea"/>
          <a:cs typeface="+mj-cs"/>
        </a:defRPr>
      </a:lvl1pPr>
    </p:titleStyle>
    <p:bodyStyle>
      <a:lvl1pPr marL="288036" indent="-288036" algn="l" defTabSz="685800" rtl="0" eaLnBrk="1" latinLnBrk="0" hangingPunct="1">
        <a:lnSpc>
          <a:spcPct val="94000"/>
        </a:lnSpc>
        <a:spcBef>
          <a:spcPts val="750"/>
        </a:spcBef>
        <a:spcAft>
          <a:spcPts val="150"/>
        </a:spcAft>
        <a:buFont typeface="Franklin Gothic Book" panose="020B0503020102020204" pitchFamily="34" charset="0"/>
        <a:buChar char="■"/>
        <a:defRPr sz="1500" kern="1200" baseline="0">
          <a:solidFill>
            <a:schemeClr val="tx2"/>
          </a:solidFill>
          <a:latin typeface="+mn-lt"/>
          <a:ea typeface="+mn-ea"/>
          <a:cs typeface="+mn-cs"/>
        </a:defRPr>
      </a:lvl1pPr>
      <a:lvl2pPr marL="6858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500" i="1" kern="1200" baseline="0">
          <a:solidFill>
            <a:schemeClr val="tx2"/>
          </a:solidFill>
          <a:latin typeface="+mn-lt"/>
          <a:ea typeface="+mn-ea"/>
          <a:cs typeface="+mn-cs"/>
        </a:defRPr>
      </a:lvl2pPr>
      <a:lvl3pPr marL="10287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kern="1200" baseline="0">
          <a:solidFill>
            <a:schemeClr val="tx2"/>
          </a:solidFill>
          <a:latin typeface="+mn-lt"/>
          <a:ea typeface="+mn-ea"/>
          <a:cs typeface="+mn-cs"/>
        </a:defRPr>
      </a:lvl3pPr>
      <a:lvl4pPr marL="13716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i="1" kern="1200" baseline="0">
          <a:solidFill>
            <a:schemeClr val="tx2"/>
          </a:solidFill>
          <a:latin typeface="+mn-lt"/>
          <a:ea typeface="+mn-ea"/>
          <a:cs typeface="+mn-cs"/>
        </a:defRPr>
      </a:lvl4pPr>
      <a:lvl5pPr marL="17145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kern="1200" baseline="0">
          <a:solidFill>
            <a:schemeClr val="tx2"/>
          </a:solidFill>
          <a:latin typeface="+mn-lt"/>
          <a:ea typeface="+mn-ea"/>
          <a:cs typeface="+mn-cs"/>
        </a:defRPr>
      </a:lvl5pPr>
      <a:lvl6pPr marL="20574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i="1" kern="1200" baseline="0">
          <a:solidFill>
            <a:schemeClr val="tx2"/>
          </a:solidFill>
          <a:latin typeface="+mn-lt"/>
          <a:ea typeface="+mn-ea"/>
          <a:cs typeface="+mn-cs"/>
        </a:defRPr>
      </a:lvl6pPr>
      <a:lvl7pPr marL="24003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7pPr>
      <a:lvl8pPr marL="27432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i="1" kern="1200" baseline="0">
          <a:solidFill>
            <a:schemeClr val="tx2"/>
          </a:solidFill>
          <a:latin typeface="+mn-lt"/>
          <a:ea typeface="+mn-ea"/>
          <a:cs typeface="+mn-cs"/>
        </a:defRPr>
      </a:lvl8pPr>
      <a:lvl9pPr marL="30861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hyperlink" Target="https://humanbenchmark.com/"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prstGeom prst="rect">
            <a:avLst/>
          </a:prstGeom>
        </p:spPr>
        <p:txBody>
          <a:bodyPr spcFirstLastPara="1" wrap="square" lIns="91425" tIns="91425" rIns="91425" bIns="91425" anchor="t" anchorCtr="0">
            <a:normAutofit fontScale="90000"/>
          </a:bodyPr>
          <a:lstStyle/>
          <a:p>
            <a:pPr marL="0" lvl="0" indent="0" rtl="0">
              <a:spcBef>
                <a:spcPts val="0"/>
              </a:spcBef>
              <a:spcAft>
                <a:spcPts val="0"/>
              </a:spcAft>
              <a:buNone/>
            </a:pPr>
            <a:r>
              <a:rPr lang="de" dirty="0"/>
              <a:t>Human Benchmark VR</a:t>
            </a:r>
            <a:endParaRPr dirty="0"/>
          </a:p>
        </p:txBody>
      </p:sp>
      <p:sp>
        <p:nvSpPr>
          <p:cNvPr id="135" name="Google Shape;135;p13"/>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rtl="0">
              <a:spcBef>
                <a:spcPts val="0"/>
              </a:spcBef>
              <a:spcAft>
                <a:spcPts val="0"/>
              </a:spcAft>
              <a:buNone/>
            </a:pPr>
            <a:r>
              <a:rPr lang="de" dirty="0"/>
              <a:t>Nikolas Koch and Mateo Curci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D868099-6145-4BC0-A5EA-74BEF1776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33DB7F-F7CF-5533-36EE-6AF320E28383}"/>
              </a:ext>
            </a:extLst>
          </p:cNvPr>
          <p:cNvSpPr>
            <a:spLocks noGrp="1"/>
          </p:cNvSpPr>
          <p:nvPr>
            <p:ph type="title"/>
          </p:nvPr>
        </p:nvSpPr>
        <p:spPr>
          <a:xfrm>
            <a:off x="6353568" y="833161"/>
            <a:ext cx="2289779" cy="795613"/>
          </a:xfrm>
        </p:spPr>
        <p:txBody>
          <a:bodyPr anchor="b">
            <a:normAutofit/>
          </a:bodyPr>
          <a:lstStyle/>
          <a:p>
            <a:r>
              <a:rPr lang="en-US" sz="2100"/>
              <a:t>Main Lobby</a:t>
            </a:r>
          </a:p>
        </p:txBody>
      </p:sp>
      <p:pic>
        <p:nvPicPr>
          <p:cNvPr id="5" name="Picture 4" descr="A blue screen with white text&#10;&#10;AI-generated content may be incorrect.">
            <a:extLst>
              <a:ext uri="{FF2B5EF4-FFF2-40B4-BE49-F238E27FC236}">
                <a16:creationId xmlns:a16="http://schemas.microsoft.com/office/drawing/2014/main" id="{ECA8AAE6-7E01-BF11-3508-E50BE87F0B2B}"/>
              </a:ext>
            </a:extLst>
          </p:cNvPr>
          <p:cNvPicPr>
            <a:picLocks noChangeAspect="1"/>
          </p:cNvPicPr>
          <p:nvPr/>
        </p:nvPicPr>
        <p:blipFill>
          <a:blip r:embed="rId2"/>
          <a:stretch>
            <a:fillRect/>
          </a:stretch>
        </p:blipFill>
        <p:spPr>
          <a:xfrm>
            <a:off x="475706" y="1116201"/>
            <a:ext cx="5175285" cy="2911097"/>
          </a:xfrm>
          <a:prstGeom prst="rect">
            <a:avLst/>
          </a:prstGeom>
        </p:spPr>
      </p:pic>
      <p:sp>
        <p:nvSpPr>
          <p:cNvPr id="3" name="Content Placeholder 2">
            <a:extLst>
              <a:ext uri="{FF2B5EF4-FFF2-40B4-BE49-F238E27FC236}">
                <a16:creationId xmlns:a16="http://schemas.microsoft.com/office/drawing/2014/main" id="{083C0B8F-D680-7BAD-63B0-6C865471E797}"/>
              </a:ext>
            </a:extLst>
          </p:cNvPr>
          <p:cNvSpPr>
            <a:spLocks noGrp="1"/>
          </p:cNvSpPr>
          <p:nvPr>
            <p:ph idx="1"/>
          </p:nvPr>
        </p:nvSpPr>
        <p:spPr>
          <a:xfrm>
            <a:off x="6353567" y="1714500"/>
            <a:ext cx="2289779" cy="2948940"/>
          </a:xfrm>
        </p:spPr>
        <p:txBody>
          <a:bodyPr>
            <a:normAutofit/>
          </a:bodyPr>
          <a:lstStyle/>
          <a:p>
            <a:r>
              <a:rPr lang="en-US" sz="1200"/>
              <a:t>This Scene has 3 buttons, one for each mini game.</a:t>
            </a:r>
          </a:p>
          <a:p>
            <a:r>
              <a:rPr lang="en-US" sz="1200"/>
              <a:t>The user clicks on whichever game they want to play.</a:t>
            </a:r>
          </a:p>
          <a:p>
            <a:r>
              <a:rPr lang="en-US" sz="1200"/>
              <a:t>Once clicked, it transports them to the corresponding scene.</a:t>
            </a:r>
          </a:p>
          <a:p>
            <a:pPr marL="0" indent="0">
              <a:buNone/>
            </a:pPr>
            <a:endParaRPr lang="en-US" sz="1200"/>
          </a:p>
        </p:txBody>
      </p:sp>
      <p:sp>
        <p:nvSpPr>
          <p:cNvPr id="12" name="Freeform 6">
            <a:extLst>
              <a:ext uri="{FF2B5EF4-FFF2-40B4-BE49-F238E27FC236}">
                <a16:creationId xmlns:a16="http://schemas.microsoft.com/office/drawing/2014/main" id="{CC1026F7-DECB-49B4-A565-518BBA445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987575" y="480060"/>
            <a:ext cx="1722021" cy="2756235"/>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spTree>
    <p:extLst>
      <p:ext uri="{BB962C8B-B14F-4D97-AF65-F5344CB8AC3E}">
        <p14:creationId xmlns:p14="http://schemas.microsoft.com/office/powerpoint/2010/main" val="2225263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39"/>
        <p:cNvGrpSpPr/>
        <p:nvPr/>
      </p:nvGrpSpPr>
      <p:grpSpPr>
        <a:xfrm>
          <a:off x="0" y="0"/>
          <a:ext cx="0" cy="0"/>
          <a:chOff x="0" y="0"/>
          <a:chExt cx="0" cy="0"/>
        </a:xfrm>
      </p:grpSpPr>
      <p:sp>
        <p:nvSpPr>
          <p:cNvPr id="155" name="Rectangle 154">
            <a:extLst>
              <a:ext uri="{FF2B5EF4-FFF2-40B4-BE49-F238E27FC236}">
                <a16:creationId xmlns:a16="http://schemas.microsoft.com/office/drawing/2014/main" id="{1C47D4F4-0CFE-4B87-8C7E-3681081D3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7" name="Rectangle 156">
            <a:extLst>
              <a:ext uri="{FF2B5EF4-FFF2-40B4-BE49-F238E27FC236}">
                <a16:creationId xmlns:a16="http://schemas.microsoft.com/office/drawing/2014/main" id="{B98CA5AE-F2E4-4A6F-B986-89804B1EC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Google Shape;140;p14"/>
          <p:cNvSpPr txBox="1">
            <a:spLocks noGrp="1"/>
          </p:cNvSpPr>
          <p:nvPr>
            <p:ph type="title"/>
          </p:nvPr>
        </p:nvSpPr>
        <p:spPr>
          <a:xfrm>
            <a:off x="588557" y="514350"/>
            <a:ext cx="4345106" cy="1114425"/>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pPr>
            <a:r>
              <a:rPr lang="en-US" sz="4400"/>
              <a:t>Reaction Time</a:t>
            </a:r>
          </a:p>
        </p:txBody>
      </p:sp>
      <p:sp>
        <p:nvSpPr>
          <p:cNvPr id="141" name="Google Shape;141;p14"/>
          <p:cNvSpPr txBox="1">
            <a:spLocks noGrp="1"/>
          </p:cNvSpPr>
          <p:nvPr>
            <p:ph type="body" idx="1"/>
          </p:nvPr>
        </p:nvSpPr>
        <p:spPr>
          <a:xfrm>
            <a:off x="588557" y="1714500"/>
            <a:ext cx="4345106" cy="2686050"/>
          </a:xfrm>
          <a:prstGeom prst="rect">
            <a:avLst/>
          </a:prstGeom>
        </p:spPr>
        <p:txBody>
          <a:bodyPr spcFirstLastPara="1" vert="horz" lIns="91440" tIns="45720" rIns="91440" bIns="45720" rtlCol="0" anchorCtr="0">
            <a:normAutofit/>
          </a:bodyPr>
          <a:lstStyle/>
          <a:p>
            <a:pPr marL="384048" lvl="0" indent="-384048" defTabSz="914400">
              <a:spcBef>
                <a:spcPts val="0"/>
              </a:spcBef>
              <a:spcAft>
                <a:spcPts val="200"/>
              </a:spcAft>
              <a:buSzPts val="1300"/>
              <a:buFont typeface="Franklin Gothic Book" panose="020B0503020102020204" pitchFamily="34" charset="0"/>
              <a:buChar char="●"/>
            </a:pPr>
            <a:r>
              <a:rPr lang="en-US" dirty="0"/>
              <a:t>User spawns in a red room</a:t>
            </a:r>
          </a:p>
          <a:p>
            <a:pPr marL="384048" lvl="0" indent="-384048" defTabSz="914400">
              <a:spcBef>
                <a:spcPts val="0"/>
              </a:spcBef>
              <a:spcAft>
                <a:spcPts val="200"/>
              </a:spcAft>
              <a:buSzPts val="1300"/>
              <a:buFont typeface="Franklin Gothic Book" panose="020B0503020102020204" pitchFamily="34" charset="0"/>
              <a:buChar char="●"/>
            </a:pPr>
            <a:r>
              <a:rPr lang="en-US" dirty="0"/>
              <a:t>Room turns green and a target spawns after a random 2-5 second delay</a:t>
            </a:r>
          </a:p>
          <a:p>
            <a:pPr marL="384048" lvl="0" indent="-384048" defTabSz="914400">
              <a:spcBef>
                <a:spcPts val="0"/>
              </a:spcBef>
              <a:spcAft>
                <a:spcPts val="200"/>
              </a:spcAft>
              <a:buSzPts val="1300"/>
              <a:buFont typeface="Franklin Gothic Book" panose="020B0503020102020204" pitchFamily="34" charset="0"/>
              <a:buChar char="●"/>
            </a:pPr>
            <a:r>
              <a:rPr lang="en-US" dirty="0"/>
              <a:t>User has to find the target anywhere in a 360-degree radius.</a:t>
            </a:r>
          </a:p>
          <a:p>
            <a:pPr marL="384048" lvl="0" indent="-384048" defTabSz="914400">
              <a:spcBef>
                <a:spcPts val="0"/>
              </a:spcBef>
              <a:spcAft>
                <a:spcPts val="200"/>
              </a:spcAft>
              <a:buSzPts val="1300"/>
              <a:buFont typeface="Franklin Gothic Book" panose="020B0503020102020204" pitchFamily="34" charset="0"/>
              <a:buChar char="●"/>
            </a:pPr>
            <a:r>
              <a:rPr lang="en-US" dirty="0"/>
              <a:t>Once clicked, the time is displayed in front of the user</a:t>
            </a:r>
          </a:p>
          <a:p>
            <a:pPr marL="384048" lvl="0" indent="-384048" defTabSz="914400">
              <a:spcBef>
                <a:spcPts val="0"/>
              </a:spcBef>
              <a:spcAft>
                <a:spcPts val="200"/>
              </a:spcAft>
              <a:buSzPts val="1300"/>
              <a:buFont typeface="Franklin Gothic Book" panose="020B0503020102020204" pitchFamily="34" charset="0"/>
              <a:buChar char="●"/>
            </a:pPr>
            <a:r>
              <a:rPr lang="en-US" dirty="0"/>
              <a:t>User can restart the game or go back to the main lobby.</a:t>
            </a:r>
          </a:p>
          <a:p>
            <a:pPr marL="384048" lvl="0" indent="-384048" defTabSz="914400">
              <a:spcBef>
                <a:spcPts val="0"/>
              </a:spcBef>
              <a:spcAft>
                <a:spcPts val="200"/>
              </a:spcAft>
              <a:buSzPts val="1300"/>
              <a:buFont typeface="Franklin Gothic Book" panose="020B0503020102020204" pitchFamily="34" charset="0"/>
              <a:buChar char="●"/>
            </a:pPr>
            <a:endParaRPr lang="en-US" dirty="0"/>
          </a:p>
          <a:p>
            <a:pPr marL="384048" lvl="0" indent="-384048" defTabSz="914400">
              <a:spcBef>
                <a:spcPts val="0"/>
              </a:spcBef>
              <a:spcAft>
                <a:spcPts val="200"/>
              </a:spcAft>
              <a:buSzPts val="1300"/>
              <a:buFont typeface="Franklin Gothic Book" panose="020B0503020102020204" pitchFamily="34" charset="0"/>
              <a:buChar char="●"/>
            </a:pPr>
            <a:endParaRPr lang="en-US" dirty="0"/>
          </a:p>
        </p:txBody>
      </p:sp>
      <p:pic>
        <p:nvPicPr>
          <p:cNvPr id="5" name="Picture 4" descr="A green object pointing at a target&#10;&#10;AI-generated content may be incorrect.">
            <a:extLst>
              <a:ext uri="{FF2B5EF4-FFF2-40B4-BE49-F238E27FC236}">
                <a16:creationId xmlns:a16="http://schemas.microsoft.com/office/drawing/2014/main" id="{4F1A966E-2B12-C4B6-98FE-7068AFF7266B}"/>
              </a:ext>
            </a:extLst>
          </p:cNvPr>
          <p:cNvPicPr>
            <a:picLocks noChangeAspect="1"/>
          </p:cNvPicPr>
          <p:nvPr/>
        </p:nvPicPr>
        <p:blipFill>
          <a:blip r:embed="rId3"/>
          <a:srcRect r="-2" b="7803"/>
          <a:stretch>
            <a:fillRect/>
          </a:stretch>
        </p:blipFill>
        <p:spPr>
          <a:xfrm>
            <a:off x="5824728" y="1711071"/>
            <a:ext cx="3319272" cy="1721358"/>
          </a:xfrm>
          <a:prstGeom prst="rect">
            <a:avLst/>
          </a:prstGeom>
        </p:spPr>
      </p:pic>
      <p:pic>
        <p:nvPicPr>
          <p:cNvPr id="7" name="Picture 6" descr="A screenshot of a video game&#10;&#10;AI-generated content may be incorrect.">
            <a:extLst>
              <a:ext uri="{FF2B5EF4-FFF2-40B4-BE49-F238E27FC236}">
                <a16:creationId xmlns:a16="http://schemas.microsoft.com/office/drawing/2014/main" id="{95A0141F-ADD3-4000-E916-0BA87B800241}"/>
              </a:ext>
            </a:extLst>
          </p:cNvPr>
          <p:cNvPicPr>
            <a:picLocks noChangeAspect="1"/>
          </p:cNvPicPr>
          <p:nvPr/>
        </p:nvPicPr>
        <p:blipFill>
          <a:blip r:embed="rId4"/>
          <a:srcRect t="3405" r="-3" b="4432"/>
          <a:stretch>
            <a:fillRect/>
          </a:stretch>
        </p:blipFill>
        <p:spPr>
          <a:xfrm>
            <a:off x="5823498" y="3416709"/>
            <a:ext cx="3320502" cy="1721348"/>
          </a:xfrm>
          <a:prstGeom prst="rect">
            <a:avLst/>
          </a:prstGeom>
        </p:spPr>
      </p:pic>
      <p:sp>
        <p:nvSpPr>
          <p:cNvPr id="159" name="Rectangle 158">
            <a:extLst>
              <a:ext uri="{FF2B5EF4-FFF2-40B4-BE49-F238E27FC236}">
                <a16:creationId xmlns:a16="http://schemas.microsoft.com/office/drawing/2014/main" id="{E67E3959-D0D8-49DB-A48B-CE4FC3687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2048" y="0"/>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Picture 2" descr="A screenshot of a computer&#10;&#10;AI-generated content may be incorrect.">
            <a:extLst>
              <a:ext uri="{FF2B5EF4-FFF2-40B4-BE49-F238E27FC236}">
                <a16:creationId xmlns:a16="http://schemas.microsoft.com/office/drawing/2014/main" id="{EDF7C7D3-EF91-61CF-806B-7361A3843E4E}"/>
              </a:ext>
            </a:extLst>
          </p:cNvPr>
          <p:cNvPicPr>
            <a:picLocks noChangeAspect="1"/>
          </p:cNvPicPr>
          <p:nvPr/>
        </p:nvPicPr>
        <p:blipFill>
          <a:blip r:embed="rId5"/>
          <a:srcRect t="7807" r="-3" b="-3"/>
          <a:stretch>
            <a:fillRect/>
          </a:stretch>
        </p:blipFill>
        <p:spPr>
          <a:xfrm>
            <a:off x="5824113" y="0"/>
            <a:ext cx="3320502" cy="17219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47"/>
        <p:cNvGrpSpPr/>
        <p:nvPr/>
      </p:nvGrpSpPr>
      <p:grpSpPr>
        <a:xfrm>
          <a:off x="0" y="0"/>
          <a:ext cx="0" cy="0"/>
          <a:chOff x="0" y="0"/>
          <a:chExt cx="0" cy="0"/>
        </a:xfrm>
      </p:grpSpPr>
      <p:sp>
        <p:nvSpPr>
          <p:cNvPr id="154" name="Rectangle 153">
            <a:extLst>
              <a:ext uri="{FF2B5EF4-FFF2-40B4-BE49-F238E27FC236}">
                <a16:creationId xmlns:a16="http://schemas.microsoft.com/office/drawing/2014/main" id="{0E880B70-9045-4B1E-A61A-E849BE8C8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6" name="Rectangle 155">
            <a:extLst>
              <a:ext uri="{FF2B5EF4-FFF2-40B4-BE49-F238E27FC236}">
                <a16:creationId xmlns:a16="http://schemas.microsoft.com/office/drawing/2014/main" id="{48C110B4-D26A-44C6-8576-236CA24E9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Google Shape;148;p15"/>
          <p:cNvSpPr txBox="1">
            <a:spLocks noGrp="1"/>
          </p:cNvSpPr>
          <p:nvPr>
            <p:ph type="title"/>
          </p:nvPr>
        </p:nvSpPr>
        <p:spPr>
          <a:xfrm>
            <a:off x="766312" y="3208683"/>
            <a:ext cx="3685038" cy="1322227"/>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pPr>
            <a:r>
              <a:rPr lang="en-US" sz="4400"/>
              <a:t>Aim Trainer</a:t>
            </a:r>
            <a:br>
              <a:rPr lang="en-US" sz="4400"/>
            </a:br>
            <a:endParaRPr lang="en-US" sz="4400"/>
          </a:p>
        </p:txBody>
      </p:sp>
      <p:pic>
        <p:nvPicPr>
          <p:cNvPr id="3" name="Picture 2" descr="A screenshot of a video game&#10;&#10;AI-generated content may be incorrect.">
            <a:extLst>
              <a:ext uri="{FF2B5EF4-FFF2-40B4-BE49-F238E27FC236}">
                <a16:creationId xmlns:a16="http://schemas.microsoft.com/office/drawing/2014/main" id="{A83364E6-6F4F-FAED-1563-B78DF4D57E81}"/>
              </a:ext>
            </a:extLst>
          </p:cNvPr>
          <p:cNvPicPr>
            <a:picLocks noChangeAspect="1"/>
          </p:cNvPicPr>
          <p:nvPr/>
        </p:nvPicPr>
        <p:blipFill>
          <a:blip r:embed="rId3"/>
          <a:stretch>
            <a:fillRect/>
          </a:stretch>
        </p:blipFill>
        <p:spPr>
          <a:xfrm>
            <a:off x="525286" y="482600"/>
            <a:ext cx="3883377" cy="2184400"/>
          </a:xfrm>
          <a:prstGeom prst="rect">
            <a:avLst/>
          </a:prstGeom>
        </p:spPr>
      </p:pic>
      <p:pic>
        <p:nvPicPr>
          <p:cNvPr id="5" name="Picture 4" descr="A red line in the middle of a white surface&#10;&#10;AI-generated content may be incorrect.">
            <a:extLst>
              <a:ext uri="{FF2B5EF4-FFF2-40B4-BE49-F238E27FC236}">
                <a16:creationId xmlns:a16="http://schemas.microsoft.com/office/drawing/2014/main" id="{7170DF66-2640-6E1B-D275-5691D7B8832E}"/>
              </a:ext>
            </a:extLst>
          </p:cNvPr>
          <p:cNvPicPr>
            <a:picLocks noChangeAspect="1"/>
          </p:cNvPicPr>
          <p:nvPr/>
        </p:nvPicPr>
        <p:blipFill>
          <a:blip r:embed="rId4"/>
          <a:stretch>
            <a:fillRect/>
          </a:stretch>
        </p:blipFill>
        <p:spPr>
          <a:xfrm>
            <a:off x="4735335" y="482600"/>
            <a:ext cx="3883377" cy="2184400"/>
          </a:xfrm>
          <a:prstGeom prst="rect">
            <a:avLst/>
          </a:prstGeom>
        </p:spPr>
      </p:pic>
      <p:sp>
        <p:nvSpPr>
          <p:cNvPr id="158" name="Freeform: Shape 157">
            <a:extLst>
              <a:ext uri="{FF2B5EF4-FFF2-40B4-BE49-F238E27FC236}">
                <a16:creationId xmlns:a16="http://schemas.microsoft.com/office/drawing/2014/main" id="{5BFD4DBB-3229-4DF6-A68A-CD91F8325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326202" y="2892732"/>
            <a:ext cx="1467878" cy="827765"/>
          </a:xfrm>
          <a:custGeom>
            <a:avLst/>
            <a:gdLst>
              <a:gd name="connsiteX0" fmla="*/ 2017702 w 2017702"/>
              <a:gd name="connsiteY0" fmla="*/ 1137821 h 1137821"/>
              <a:gd name="connsiteX1" fmla="*/ 404 w 2017702"/>
              <a:gd name="connsiteY1" fmla="*/ 1137821 h 1137821"/>
              <a:gd name="connsiteX2" fmla="*/ 0 w 2017702"/>
              <a:gd name="connsiteY2" fmla="*/ 900216 h 1137821"/>
              <a:gd name="connsiteX3" fmla="*/ 1767759 w 2017702"/>
              <a:gd name="connsiteY3" fmla="*/ 901031 h 1137821"/>
              <a:gd name="connsiteX4" fmla="*/ 1767759 w 2017702"/>
              <a:gd name="connsiteY4" fmla="*/ 0 h 1137821"/>
              <a:gd name="connsiteX5" fmla="*/ 2017702 w 2017702"/>
              <a:gd name="connsiteY5" fmla="*/ 0 h 113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7702" h="1137821">
                <a:moveTo>
                  <a:pt x="2017702" y="1137821"/>
                </a:moveTo>
                <a:lnTo>
                  <a:pt x="404" y="1137821"/>
                </a:lnTo>
                <a:cubicBezTo>
                  <a:pt x="-404" y="1055814"/>
                  <a:pt x="807" y="982224"/>
                  <a:pt x="0" y="900216"/>
                </a:cubicBezTo>
                <a:lnTo>
                  <a:pt x="1767759" y="901031"/>
                </a:lnTo>
                <a:lnTo>
                  <a:pt x="1767759" y="0"/>
                </a:lnTo>
                <a:lnTo>
                  <a:pt x="2017702" y="0"/>
                </a:lnTo>
                <a:close/>
              </a:path>
            </a:pathLst>
          </a:custGeom>
          <a:solidFill>
            <a:schemeClr val="tx2">
              <a:alpha val="80000"/>
            </a:schemeClr>
          </a:solidFill>
          <a:ln w="0">
            <a:noFill/>
            <a:prstDash val="solid"/>
            <a:round/>
            <a:headEnd/>
            <a:tailEnd/>
          </a:ln>
        </p:spPr>
        <p:txBody>
          <a:bodyPr/>
          <a:lstStyle/>
          <a:p>
            <a:endParaRPr lang="en-US"/>
          </a:p>
        </p:txBody>
      </p:sp>
      <p:sp>
        <p:nvSpPr>
          <p:cNvPr id="149" name="Google Shape;149;p15"/>
          <p:cNvSpPr txBox="1">
            <a:spLocks noGrp="1"/>
          </p:cNvSpPr>
          <p:nvPr>
            <p:ph type="body" idx="1"/>
          </p:nvPr>
        </p:nvSpPr>
        <p:spPr>
          <a:xfrm>
            <a:off x="4690357" y="3208684"/>
            <a:ext cx="3539242" cy="1381392"/>
          </a:xfrm>
          <a:prstGeom prst="rect">
            <a:avLst/>
          </a:prstGeom>
        </p:spPr>
        <p:txBody>
          <a:bodyPr spcFirstLastPara="1" vert="horz" lIns="91440" tIns="45720" rIns="91440" bIns="45720" rtlCol="0" anchorCtr="0">
            <a:normAutofit/>
          </a:bodyPr>
          <a:lstStyle/>
          <a:p>
            <a:pPr marL="457200" lvl="0" indent="-384048" defTabSz="914400">
              <a:spcBef>
                <a:spcPts val="0"/>
              </a:spcBef>
              <a:spcAft>
                <a:spcPts val="200"/>
              </a:spcAft>
              <a:buSzPts val="1300"/>
              <a:buFont typeface="Franklin Gothic Book" panose="020B0503020102020204" pitchFamily="34" charset="0"/>
              <a:buChar char="●"/>
            </a:pPr>
            <a:r>
              <a:rPr lang="en-US" sz="1300"/>
              <a:t>20 targets spawn around the player</a:t>
            </a:r>
          </a:p>
          <a:p>
            <a:pPr marL="457200" lvl="0" indent="-384048" defTabSz="914400">
              <a:spcBef>
                <a:spcPts val="0"/>
              </a:spcBef>
              <a:spcAft>
                <a:spcPts val="200"/>
              </a:spcAft>
              <a:buSzPts val="1300"/>
              <a:buFont typeface="Franklin Gothic Book" panose="020B0503020102020204" pitchFamily="34" charset="0"/>
              <a:buChar char="●"/>
            </a:pPr>
            <a:r>
              <a:rPr lang="en-US" sz="1300"/>
              <a:t>Timer starts </a:t>
            </a:r>
          </a:p>
          <a:p>
            <a:pPr marL="457200" lvl="0" indent="-384048" defTabSz="914400">
              <a:spcBef>
                <a:spcPts val="0"/>
              </a:spcBef>
              <a:spcAft>
                <a:spcPts val="200"/>
              </a:spcAft>
              <a:buSzPts val="1300"/>
              <a:buFont typeface="Franklin Gothic Book" panose="020B0503020102020204" pitchFamily="34" charset="0"/>
              <a:buChar char="●"/>
            </a:pPr>
            <a:r>
              <a:rPr lang="en-US" sz="1300"/>
              <a:t>Once all targets are destroyed, timer stops.</a:t>
            </a:r>
          </a:p>
          <a:p>
            <a:pPr marL="457200" lvl="0" indent="-384048" defTabSz="914400">
              <a:spcBef>
                <a:spcPts val="0"/>
              </a:spcBef>
              <a:spcAft>
                <a:spcPts val="200"/>
              </a:spcAft>
              <a:buSzPts val="1300"/>
              <a:buFont typeface="Franklin Gothic Book" panose="020B0503020102020204" pitchFamily="34" charset="0"/>
              <a:buChar char="●"/>
            </a:pPr>
            <a:r>
              <a:rPr lang="en-US" sz="1300"/>
              <a:t>After 5 second delay the game restarts</a:t>
            </a:r>
          </a:p>
          <a:p>
            <a:pPr marL="457200" lvl="0" indent="-384048" defTabSz="914400">
              <a:spcBef>
                <a:spcPts val="0"/>
              </a:spcBef>
              <a:spcAft>
                <a:spcPts val="200"/>
              </a:spcAft>
              <a:buSzPts val="1300"/>
              <a:buFont typeface="Franklin Gothic Book" panose="020B0503020102020204" pitchFamily="34" charset="0"/>
              <a:buChar char="●"/>
            </a:pPr>
            <a:r>
              <a:rPr lang="en-US" sz="1300"/>
              <a:t>You can go back to main lobby as well.</a:t>
            </a:r>
          </a:p>
        </p:txBody>
      </p:sp>
      <p:sp>
        <p:nvSpPr>
          <p:cNvPr id="160" name="Freeform: Shape 159">
            <a:extLst>
              <a:ext uri="{FF2B5EF4-FFF2-40B4-BE49-F238E27FC236}">
                <a16:creationId xmlns:a16="http://schemas.microsoft.com/office/drawing/2014/main" id="{792979E5-1F93-4CE3-975E-3CAEC618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7627" y="3983422"/>
            <a:ext cx="1531699" cy="910115"/>
          </a:xfrm>
          <a:custGeom>
            <a:avLst/>
            <a:gdLst>
              <a:gd name="connsiteX0" fmla="*/ 1844618 w 2105428"/>
              <a:gd name="connsiteY0" fmla="*/ 0 h 1251016"/>
              <a:gd name="connsiteX1" fmla="*/ 2105428 w 2105428"/>
              <a:gd name="connsiteY1" fmla="*/ 0 h 1251016"/>
              <a:gd name="connsiteX2" fmla="*/ 2105428 w 2105428"/>
              <a:gd name="connsiteY2" fmla="*/ 1251016 h 1251016"/>
              <a:gd name="connsiteX3" fmla="*/ 421 w 2105428"/>
              <a:gd name="connsiteY3" fmla="*/ 1251016 h 1251016"/>
              <a:gd name="connsiteX4" fmla="*/ 0 w 2105428"/>
              <a:gd name="connsiteY4" fmla="*/ 1003081 h 1251016"/>
              <a:gd name="connsiteX5" fmla="*/ 1844618 w 2105428"/>
              <a:gd name="connsiteY5" fmla="*/ 1003931 h 12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5428" h="1251016">
                <a:moveTo>
                  <a:pt x="1844618" y="0"/>
                </a:moveTo>
                <a:lnTo>
                  <a:pt x="2105428" y="0"/>
                </a:lnTo>
                <a:lnTo>
                  <a:pt x="2105428" y="1251016"/>
                </a:lnTo>
                <a:lnTo>
                  <a:pt x="421" y="1251016"/>
                </a:lnTo>
                <a:cubicBezTo>
                  <a:pt x="-421" y="1165443"/>
                  <a:pt x="842" y="1088654"/>
                  <a:pt x="0" y="1003081"/>
                </a:cubicBezTo>
                <a:lnTo>
                  <a:pt x="1844618" y="1003931"/>
                </a:lnTo>
                <a:close/>
              </a:path>
            </a:pathLst>
          </a:custGeom>
          <a:solidFill>
            <a:schemeClr val="tx2">
              <a:alpha val="80000"/>
            </a:schemeClr>
          </a:solidFill>
          <a:ln w="0">
            <a:noFill/>
            <a:prstDash val="solid"/>
            <a:round/>
            <a:headEnd/>
            <a:tailEn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54"/>
        <p:cNvGrpSpPr/>
        <p:nvPr/>
      </p:nvGrpSpPr>
      <p:grpSpPr>
        <a:xfrm>
          <a:off x="0" y="0"/>
          <a:ext cx="0" cy="0"/>
          <a:chOff x="0" y="0"/>
          <a:chExt cx="0" cy="0"/>
        </a:xfrm>
      </p:grpSpPr>
      <p:sp>
        <p:nvSpPr>
          <p:cNvPr id="161" name="Rectangle 160">
            <a:extLst>
              <a:ext uri="{FF2B5EF4-FFF2-40B4-BE49-F238E27FC236}">
                <a16:creationId xmlns:a16="http://schemas.microsoft.com/office/drawing/2014/main" id="{1C47D4F4-0CFE-4B87-8C7E-3681081D3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63" name="Rectangle 162">
            <a:extLst>
              <a:ext uri="{FF2B5EF4-FFF2-40B4-BE49-F238E27FC236}">
                <a16:creationId xmlns:a16="http://schemas.microsoft.com/office/drawing/2014/main" id="{48C110B4-D26A-44C6-8576-236CA24E9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Google Shape;155;p16"/>
          <p:cNvSpPr txBox="1">
            <a:spLocks noGrp="1"/>
          </p:cNvSpPr>
          <p:nvPr>
            <p:ph type="title"/>
          </p:nvPr>
        </p:nvSpPr>
        <p:spPr>
          <a:xfrm>
            <a:off x="766312" y="3398293"/>
            <a:ext cx="3685038" cy="1262606"/>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pPr>
            <a:r>
              <a:rPr lang="en-US" sz="4400"/>
              <a:t>Visual Memory</a:t>
            </a:r>
          </a:p>
        </p:txBody>
      </p:sp>
      <p:pic>
        <p:nvPicPr>
          <p:cNvPr id="5" name="Picture 4" descr="A close-up of a key&#10;&#10;AI-generated content may be incorrect.">
            <a:extLst>
              <a:ext uri="{FF2B5EF4-FFF2-40B4-BE49-F238E27FC236}">
                <a16:creationId xmlns:a16="http://schemas.microsoft.com/office/drawing/2014/main" id="{65E10D35-9212-FFC0-9EE9-6E564D4577CB}"/>
              </a:ext>
            </a:extLst>
          </p:cNvPr>
          <p:cNvPicPr>
            <a:picLocks noChangeAspect="1"/>
          </p:cNvPicPr>
          <p:nvPr/>
        </p:nvPicPr>
        <p:blipFill>
          <a:blip r:embed="rId3"/>
          <a:srcRect l="8824" r="-1" b="-1"/>
          <a:stretch>
            <a:fillRect/>
          </a:stretch>
        </p:blipFill>
        <p:spPr>
          <a:xfrm>
            <a:off x="20" y="10"/>
            <a:ext cx="4537690" cy="2799487"/>
          </a:xfrm>
          <a:prstGeom prst="rect">
            <a:avLst/>
          </a:prstGeom>
        </p:spPr>
      </p:pic>
      <p:pic>
        <p:nvPicPr>
          <p:cNvPr id="3" name="Picture 2" descr="A cartoon character holding a camera&#10;&#10;AI-generated content may be incorrect.">
            <a:extLst>
              <a:ext uri="{FF2B5EF4-FFF2-40B4-BE49-F238E27FC236}">
                <a16:creationId xmlns:a16="http://schemas.microsoft.com/office/drawing/2014/main" id="{19BFE6E6-90AB-CEB4-0B13-3B8CAF40860B}"/>
              </a:ext>
            </a:extLst>
          </p:cNvPr>
          <p:cNvPicPr>
            <a:picLocks noChangeAspect="1"/>
          </p:cNvPicPr>
          <p:nvPr/>
        </p:nvPicPr>
        <p:blipFill>
          <a:blip r:embed="rId4"/>
          <a:srcRect l="8824" r="-1" b="-1"/>
          <a:stretch>
            <a:fillRect/>
          </a:stretch>
        </p:blipFill>
        <p:spPr>
          <a:xfrm>
            <a:off x="4604004" y="10"/>
            <a:ext cx="4537710" cy="2799487"/>
          </a:xfrm>
          <a:prstGeom prst="rect">
            <a:avLst/>
          </a:prstGeom>
        </p:spPr>
      </p:pic>
      <p:sp>
        <p:nvSpPr>
          <p:cNvPr id="165" name="Freeform: Shape 164">
            <a:extLst>
              <a:ext uri="{FF2B5EF4-FFF2-40B4-BE49-F238E27FC236}">
                <a16:creationId xmlns:a16="http://schemas.microsoft.com/office/drawing/2014/main" id="{5BFD4DBB-3229-4DF6-A68A-CD91F8325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326202" y="3022720"/>
            <a:ext cx="1467878" cy="827765"/>
          </a:xfrm>
          <a:custGeom>
            <a:avLst/>
            <a:gdLst>
              <a:gd name="connsiteX0" fmla="*/ 2017702 w 2017702"/>
              <a:gd name="connsiteY0" fmla="*/ 1137821 h 1137821"/>
              <a:gd name="connsiteX1" fmla="*/ 404 w 2017702"/>
              <a:gd name="connsiteY1" fmla="*/ 1137821 h 1137821"/>
              <a:gd name="connsiteX2" fmla="*/ 0 w 2017702"/>
              <a:gd name="connsiteY2" fmla="*/ 900216 h 1137821"/>
              <a:gd name="connsiteX3" fmla="*/ 1767759 w 2017702"/>
              <a:gd name="connsiteY3" fmla="*/ 901031 h 1137821"/>
              <a:gd name="connsiteX4" fmla="*/ 1767759 w 2017702"/>
              <a:gd name="connsiteY4" fmla="*/ 0 h 1137821"/>
              <a:gd name="connsiteX5" fmla="*/ 2017702 w 2017702"/>
              <a:gd name="connsiteY5" fmla="*/ 0 h 113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7702" h="1137821">
                <a:moveTo>
                  <a:pt x="2017702" y="1137821"/>
                </a:moveTo>
                <a:lnTo>
                  <a:pt x="404" y="1137821"/>
                </a:lnTo>
                <a:cubicBezTo>
                  <a:pt x="-404" y="1055814"/>
                  <a:pt x="807" y="982224"/>
                  <a:pt x="0" y="900216"/>
                </a:cubicBezTo>
                <a:lnTo>
                  <a:pt x="1767759" y="901031"/>
                </a:lnTo>
                <a:lnTo>
                  <a:pt x="1767759" y="0"/>
                </a:lnTo>
                <a:lnTo>
                  <a:pt x="2017702" y="0"/>
                </a:lnTo>
                <a:close/>
              </a:path>
            </a:pathLst>
          </a:custGeom>
          <a:solidFill>
            <a:schemeClr val="tx2">
              <a:alpha val="80000"/>
            </a:schemeClr>
          </a:solidFill>
          <a:ln w="0">
            <a:noFill/>
            <a:prstDash val="solid"/>
            <a:round/>
            <a:headEnd/>
            <a:tailEnd/>
          </a:ln>
        </p:spPr>
        <p:txBody>
          <a:bodyPr/>
          <a:lstStyle/>
          <a:p>
            <a:endParaRPr lang="en-US"/>
          </a:p>
        </p:txBody>
      </p:sp>
      <p:sp>
        <p:nvSpPr>
          <p:cNvPr id="156" name="Google Shape;156;p16"/>
          <p:cNvSpPr txBox="1">
            <a:spLocks noGrp="1"/>
          </p:cNvSpPr>
          <p:nvPr>
            <p:ph type="body" idx="1"/>
          </p:nvPr>
        </p:nvSpPr>
        <p:spPr>
          <a:xfrm>
            <a:off x="4690357" y="3398294"/>
            <a:ext cx="3539242" cy="1262605"/>
          </a:xfrm>
          <a:prstGeom prst="rect">
            <a:avLst/>
          </a:prstGeom>
        </p:spPr>
        <p:txBody>
          <a:bodyPr spcFirstLastPara="1" vert="horz" lIns="91440" tIns="45720" rIns="91440" bIns="45720" rtlCol="0" anchorCtr="0">
            <a:normAutofit/>
          </a:bodyPr>
          <a:lstStyle/>
          <a:p>
            <a:pPr marL="384048" indent="-384048" defTabSz="914400">
              <a:spcAft>
                <a:spcPts val="200"/>
              </a:spcAft>
            </a:pPr>
            <a:r>
              <a:rPr lang="en-US" sz="1000"/>
              <a:t>User spawns facing a 3 x 3 board.</a:t>
            </a:r>
          </a:p>
          <a:p>
            <a:pPr marL="384048" indent="-384048" defTabSz="914400">
              <a:spcAft>
                <a:spcPts val="200"/>
              </a:spcAft>
            </a:pPr>
            <a:r>
              <a:rPr lang="en-US" sz="1000"/>
              <a:t>A sequence of squares are lit up.</a:t>
            </a:r>
          </a:p>
          <a:p>
            <a:pPr marL="384048" indent="-384048" defTabSz="914400">
              <a:spcAft>
                <a:spcPts val="200"/>
              </a:spcAft>
            </a:pPr>
            <a:r>
              <a:rPr lang="en-US" sz="1000"/>
              <a:t>The user has to memorize the exact order and place 3D cubes in the correct spots</a:t>
            </a:r>
          </a:p>
          <a:p>
            <a:pPr marL="384048" indent="-384048" defTabSz="914400">
              <a:spcAft>
                <a:spcPts val="200"/>
              </a:spcAft>
            </a:pPr>
            <a:r>
              <a:rPr lang="en-US" sz="1000"/>
              <a:t>If user makes a mistake, the entire game restarts.</a:t>
            </a:r>
          </a:p>
          <a:p>
            <a:pPr marL="384048" indent="-384048" defTabSz="914400">
              <a:spcAft>
                <a:spcPts val="200"/>
              </a:spcAft>
            </a:pPr>
            <a:r>
              <a:rPr lang="en-US" sz="1000"/>
              <a:t>Once the user passes the test, it goes back to main lobby after a 5 second delay.</a:t>
            </a:r>
          </a:p>
          <a:p>
            <a:pPr marL="384048" indent="-384048" defTabSz="914400">
              <a:spcAft>
                <a:spcPts val="200"/>
              </a:spcAft>
            </a:pPr>
            <a:endParaRPr lang="en-US" sz="1000"/>
          </a:p>
        </p:txBody>
      </p:sp>
      <p:sp>
        <p:nvSpPr>
          <p:cNvPr id="167" name="Freeform: Shape 166">
            <a:extLst>
              <a:ext uri="{FF2B5EF4-FFF2-40B4-BE49-F238E27FC236}">
                <a16:creationId xmlns:a16="http://schemas.microsoft.com/office/drawing/2014/main" id="{792979E5-1F93-4CE3-975E-3CAEC618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7627" y="3983422"/>
            <a:ext cx="1531699" cy="910115"/>
          </a:xfrm>
          <a:custGeom>
            <a:avLst/>
            <a:gdLst>
              <a:gd name="connsiteX0" fmla="*/ 1844618 w 2105428"/>
              <a:gd name="connsiteY0" fmla="*/ 0 h 1251016"/>
              <a:gd name="connsiteX1" fmla="*/ 2105428 w 2105428"/>
              <a:gd name="connsiteY1" fmla="*/ 0 h 1251016"/>
              <a:gd name="connsiteX2" fmla="*/ 2105428 w 2105428"/>
              <a:gd name="connsiteY2" fmla="*/ 1251016 h 1251016"/>
              <a:gd name="connsiteX3" fmla="*/ 421 w 2105428"/>
              <a:gd name="connsiteY3" fmla="*/ 1251016 h 1251016"/>
              <a:gd name="connsiteX4" fmla="*/ 0 w 2105428"/>
              <a:gd name="connsiteY4" fmla="*/ 1003081 h 1251016"/>
              <a:gd name="connsiteX5" fmla="*/ 1844618 w 2105428"/>
              <a:gd name="connsiteY5" fmla="*/ 1003931 h 12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5428" h="1251016">
                <a:moveTo>
                  <a:pt x="1844618" y="0"/>
                </a:moveTo>
                <a:lnTo>
                  <a:pt x="2105428" y="0"/>
                </a:lnTo>
                <a:lnTo>
                  <a:pt x="2105428" y="1251016"/>
                </a:lnTo>
                <a:lnTo>
                  <a:pt x="421" y="1251016"/>
                </a:lnTo>
                <a:cubicBezTo>
                  <a:pt x="-421" y="1165443"/>
                  <a:pt x="842" y="1088654"/>
                  <a:pt x="0" y="1003081"/>
                </a:cubicBezTo>
                <a:lnTo>
                  <a:pt x="1844618" y="1003931"/>
                </a:lnTo>
                <a:close/>
              </a:path>
            </a:pathLst>
          </a:custGeom>
          <a:solidFill>
            <a:schemeClr val="tx2">
              <a:alpha val="80000"/>
            </a:schemeClr>
          </a:solidFill>
          <a:ln w="0">
            <a:noFill/>
            <a:prstDash val="solid"/>
            <a:round/>
            <a:headEnd/>
            <a:tailEn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7"/>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de"/>
              <a:t>Reference Game</a:t>
            </a:r>
            <a:endParaRPr/>
          </a:p>
        </p:txBody>
      </p:sp>
      <p:sp>
        <p:nvSpPr>
          <p:cNvPr id="163" name="Google Shape;163;p17"/>
          <p:cNvSpPr txBox="1">
            <a:spLocks noGrp="1"/>
          </p:cNvSpPr>
          <p:nvPr>
            <p:ph type="body" idx="1"/>
          </p:nvPr>
        </p:nvSpPr>
        <p:spPr>
          <a:xfrm>
            <a:off x="807600" y="1156969"/>
            <a:ext cx="321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de" dirty="0" err="1"/>
              <a:t>Our</a:t>
            </a:r>
            <a:r>
              <a:rPr lang="de" dirty="0"/>
              <a:t> </a:t>
            </a:r>
            <a:r>
              <a:rPr lang="de" dirty="0" err="1"/>
              <a:t>reference</a:t>
            </a:r>
            <a:r>
              <a:rPr lang="de" dirty="0"/>
              <a:t> game </a:t>
            </a:r>
            <a:r>
              <a:rPr lang="de" dirty="0" err="1"/>
              <a:t>is</a:t>
            </a:r>
            <a:r>
              <a:rPr lang="de" dirty="0"/>
              <a:t> Human Benchmark. </a:t>
            </a:r>
            <a:endParaRPr dirty="0"/>
          </a:p>
          <a:p>
            <a:pPr marL="0" lvl="0" indent="0" algn="l" rtl="0">
              <a:spcBef>
                <a:spcPts val="1200"/>
              </a:spcBef>
              <a:spcAft>
                <a:spcPts val="0"/>
              </a:spcAft>
              <a:buNone/>
            </a:pPr>
            <a:r>
              <a:rPr lang="de" dirty="0"/>
              <a:t>A 2D </a:t>
            </a:r>
            <a:r>
              <a:rPr lang="de" dirty="0" err="1"/>
              <a:t>website</a:t>
            </a:r>
            <a:r>
              <a:rPr lang="de" dirty="0"/>
              <a:t> </a:t>
            </a:r>
            <a:r>
              <a:rPr lang="de" dirty="0" err="1"/>
              <a:t>where</a:t>
            </a:r>
            <a:r>
              <a:rPr lang="de" dirty="0"/>
              <a:t> </a:t>
            </a:r>
            <a:r>
              <a:rPr lang="de" dirty="0" err="1"/>
              <a:t>users</a:t>
            </a:r>
            <a:r>
              <a:rPr lang="de" dirty="0"/>
              <a:t> </a:t>
            </a:r>
            <a:r>
              <a:rPr lang="de" dirty="0" err="1"/>
              <a:t>can</a:t>
            </a:r>
            <a:r>
              <a:rPr lang="de" dirty="0"/>
              <a:t> </a:t>
            </a:r>
            <a:r>
              <a:rPr lang="de" dirty="0" err="1"/>
              <a:t>see</a:t>
            </a:r>
            <a:r>
              <a:rPr lang="de" dirty="0"/>
              <a:t> </a:t>
            </a:r>
            <a:r>
              <a:rPr lang="de" dirty="0" err="1"/>
              <a:t>where</a:t>
            </a:r>
            <a:r>
              <a:rPr lang="de" dirty="0"/>
              <a:t> </a:t>
            </a:r>
            <a:r>
              <a:rPr lang="de" dirty="0" err="1"/>
              <a:t>they</a:t>
            </a:r>
            <a:r>
              <a:rPr lang="de" dirty="0"/>
              <a:t> rank on </a:t>
            </a:r>
            <a:r>
              <a:rPr lang="de" dirty="0" err="1"/>
              <a:t>common</a:t>
            </a:r>
            <a:r>
              <a:rPr lang="de" dirty="0"/>
              <a:t> </a:t>
            </a:r>
            <a:r>
              <a:rPr lang="de" dirty="0" err="1"/>
              <a:t>benchmarks</a:t>
            </a:r>
            <a:r>
              <a:rPr lang="de" dirty="0"/>
              <a:t> such </a:t>
            </a:r>
            <a:r>
              <a:rPr lang="de" dirty="0" err="1"/>
              <a:t>as</a:t>
            </a:r>
            <a:r>
              <a:rPr lang="de" dirty="0"/>
              <a:t> </a:t>
            </a:r>
            <a:r>
              <a:rPr lang="de" dirty="0" err="1"/>
              <a:t>visual</a:t>
            </a:r>
            <a:r>
              <a:rPr lang="de" dirty="0"/>
              <a:t> </a:t>
            </a:r>
            <a:r>
              <a:rPr lang="de" dirty="0" err="1"/>
              <a:t>memory</a:t>
            </a:r>
            <a:r>
              <a:rPr lang="de" dirty="0"/>
              <a:t> </a:t>
            </a:r>
            <a:r>
              <a:rPr lang="de" dirty="0" err="1"/>
              <a:t>tests</a:t>
            </a:r>
            <a:r>
              <a:rPr lang="de" dirty="0"/>
              <a:t> and </a:t>
            </a:r>
            <a:r>
              <a:rPr lang="de" dirty="0" err="1"/>
              <a:t>reaction</a:t>
            </a:r>
            <a:r>
              <a:rPr lang="de" dirty="0"/>
              <a:t> time.</a:t>
            </a:r>
            <a:endParaRPr dirty="0"/>
          </a:p>
          <a:p>
            <a:pPr marL="0" lvl="0" indent="0" algn="l" rtl="0">
              <a:spcBef>
                <a:spcPts val="1200"/>
              </a:spcBef>
              <a:spcAft>
                <a:spcPts val="1200"/>
              </a:spcAft>
              <a:buNone/>
            </a:pPr>
            <a:r>
              <a:rPr lang="de" u="sng" dirty="0">
                <a:solidFill>
                  <a:srgbClr val="3D85C6"/>
                </a:solidFill>
                <a:hlinkClick r:id="rId3">
                  <a:extLst>
                    <a:ext uri="{A12FA001-AC4F-418D-AE19-62706E023703}">
                      <ahyp:hlinkClr xmlns:ahyp="http://schemas.microsoft.com/office/drawing/2018/hyperlinkcolor" val="tx"/>
                    </a:ext>
                  </a:extLst>
                </a:hlinkClick>
              </a:rPr>
              <a:t>https://humanbenchmark.com/</a:t>
            </a:r>
            <a:endParaRPr dirty="0">
              <a:solidFill>
                <a:srgbClr val="3D85C6"/>
              </a:solidFill>
            </a:endParaRPr>
          </a:p>
        </p:txBody>
      </p:sp>
      <p:pic>
        <p:nvPicPr>
          <p:cNvPr id="164" name="Google Shape;164;p17" title="Screenshot 2025-11-10 at 14.14.31.png"/>
          <p:cNvPicPr preferRelativeResize="0"/>
          <p:nvPr/>
        </p:nvPicPr>
        <p:blipFill>
          <a:blip r:embed="rId4">
            <a:alphaModFix/>
          </a:blip>
          <a:stretch>
            <a:fillRect/>
          </a:stretch>
        </p:blipFill>
        <p:spPr>
          <a:xfrm>
            <a:off x="4211899" y="498187"/>
            <a:ext cx="4556874" cy="4147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de" dirty="0" err="1"/>
              <a:t>Issues</a:t>
            </a:r>
            <a:r>
              <a:rPr lang="de" dirty="0"/>
              <a:t> </a:t>
            </a:r>
            <a:r>
              <a:rPr lang="de" dirty="0" err="1"/>
              <a:t>we</a:t>
            </a:r>
            <a:r>
              <a:rPr lang="de" dirty="0"/>
              <a:t> ran </a:t>
            </a:r>
            <a:r>
              <a:rPr lang="de" dirty="0" err="1"/>
              <a:t>into</a:t>
            </a:r>
            <a:endParaRPr dirty="0"/>
          </a:p>
        </p:txBody>
      </p:sp>
      <p:sp>
        <p:nvSpPr>
          <p:cNvPr id="170" name="Google Shape;170;p18"/>
          <p:cNvSpPr txBox="1">
            <a:spLocks noGrp="1"/>
          </p:cNvSpPr>
          <p:nvPr>
            <p:ph type="body" idx="1"/>
          </p:nvPr>
        </p:nvSpPr>
        <p:spPr>
          <a:prstGeom prst="rect">
            <a:avLst/>
          </a:prstGeom>
        </p:spPr>
        <p:txBody>
          <a:bodyPr spcFirstLastPara="1" wrap="square" lIns="91425" tIns="91425" rIns="91425" bIns="91425" anchor="t" anchorCtr="0">
            <a:normAutofit/>
          </a:bodyPr>
          <a:lstStyle/>
          <a:p>
            <a:pPr marL="488950" lvl="0" indent="-342900" algn="l" rtl="0">
              <a:spcBef>
                <a:spcPts val="0"/>
              </a:spcBef>
              <a:spcAft>
                <a:spcPts val="0"/>
              </a:spcAft>
              <a:buSzPts val="1300"/>
              <a:buAutoNum type="arabicPeriod"/>
            </a:pPr>
            <a:r>
              <a:rPr lang="en-US" dirty="0"/>
              <a:t>Our main issue was incorporating clicking with the controllers.</a:t>
            </a:r>
          </a:p>
          <a:p>
            <a:pPr marL="488950" lvl="0" indent="-342900" algn="l" rtl="0">
              <a:spcBef>
                <a:spcPts val="0"/>
              </a:spcBef>
              <a:spcAft>
                <a:spcPts val="0"/>
              </a:spcAft>
              <a:buSzPts val="1300"/>
              <a:buAutoNum type="arabicPeriod"/>
            </a:pPr>
            <a:r>
              <a:rPr lang="en-US" dirty="0"/>
              <a:t>Another issue in the reaction time is the script would spawn the target outside of the room, or right on top of the player so it would be invisible to the player.</a:t>
            </a:r>
          </a:p>
          <a:p>
            <a:pPr marL="488950" lvl="0" indent="-342900" algn="l" rtl="0">
              <a:spcBef>
                <a:spcPts val="0"/>
              </a:spcBef>
              <a:spcAft>
                <a:spcPts val="0"/>
              </a:spcAft>
              <a:buSzPts val="1300"/>
              <a:buAutoNum type="arabicPeriod"/>
            </a:pPr>
            <a:r>
              <a:rPr lang="en-US" dirty="0"/>
              <a:t>In the Aim Trainer some targets spawn behind to “back to Lobby” Button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9"/>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de" dirty="0"/>
              <a:t>Team Member </a:t>
            </a:r>
            <a:r>
              <a:rPr lang="de" dirty="0" err="1"/>
              <a:t>Assignments</a:t>
            </a:r>
            <a:endParaRPr dirty="0"/>
          </a:p>
        </p:txBody>
      </p:sp>
      <p:sp>
        <p:nvSpPr>
          <p:cNvPr id="176" name="Google Shape;176;p19"/>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de" dirty="0"/>
              <a:t>Nikolas Koch:</a:t>
            </a:r>
            <a:endParaRPr dirty="0"/>
          </a:p>
          <a:p>
            <a:pPr marL="457200" lvl="0" indent="-311150" algn="l" rtl="0">
              <a:spcBef>
                <a:spcPts val="1200"/>
              </a:spcBef>
              <a:spcAft>
                <a:spcPts val="0"/>
              </a:spcAft>
              <a:buSzPts val="1300"/>
              <a:buChar char="-"/>
            </a:pPr>
            <a:r>
              <a:rPr lang="en-US" dirty="0"/>
              <a:t>Visual Memory</a:t>
            </a:r>
            <a:endParaRPr dirty="0"/>
          </a:p>
          <a:p>
            <a:pPr marL="457200" lvl="0" indent="-311150" algn="l" rtl="0">
              <a:spcBef>
                <a:spcPts val="0"/>
              </a:spcBef>
              <a:spcAft>
                <a:spcPts val="0"/>
              </a:spcAft>
              <a:buSzPts val="1300"/>
              <a:buChar char="-"/>
            </a:pPr>
            <a:r>
              <a:rPr lang="en-US" dirty="0"/>
              <a:t>Aim Trainer</a:t>
            </a:r>
            <a:endParaRPr dirty="0"/>
          </a:p>
          <a:p>
            <a:pPr marL="0" lvl="0" indent="0" algn="l" rtl="0">
              <a:spcBef>
                <a:spcPts val="1200"/>
              </a:spcBef>
              <a:spcAft>
                <a:spcPts val="0"/>
              </a:spcAft>
              <a:buNone/>
            </a:pPr>
            <a:r>
              <a:rPr lang="de" dirty="0"/>
              <a:t>Mateo Curci:</a:t>
            </a:r>
            <a:endParaRPr dirty="0"/>
          </a:p>
          <a:p>
            <a:pPr marL="457200" lvl="0" indent="-311150" algn="l" rtl="0">
              <a:spcBef>
                <a:spcPts val="1200"/>
              </a:spcBef>
              <a:spcAft>
                <a:spcPts val="0"/>
              </a:spcAft>
              <a:buSzPts val="1300"/>
              <a:buChar char="-"/>
            </a:pPr>
            <a:r>
              <a:rPr lang="en-US" dirty="0"/>
              <a:t>Main Lobby</a:t>
            </a:r>
            <a:endParaRPr dirty="0"/>
          </a:p>
          <a:p>
            <a:pPr marL="457200" lvl="0" indent="-311150" algn="l" rtl="0">
              <a:spcBef>
                <a:spcPts val="0"/>
              </a:spcBef>
              <a:spcAft>
                <a:spcPts val="0"/>
              </a:spcAft>
              <a:buSzPts val="1300"/>
              <a:buChar char="-"/>
            </a:pPr>
            <a:r>
              <a:rPr lang="de" dirty="0" err="1"/>
              <a:t>Reaction</a:t>
            </a:r>
            <a:r>
              <a:rPr lang="de" dirty="0"/>
              <a:t> Time</a:t>
            </a:r>
            <a:endParaRPr dirty="0"/>
          </a:p>
        </p:txBody>
      </p:sp>
    </p:spTree>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Crop</Template>
  <TotalTime>18</TotalTime>
  <Words>321</Words>
  <Application>Microsoft Macintosh PowerPoint</Application>
  <PresentationFormat>On-screen Show (16:9)</PresentationFormat>
  <Paragraphs>39</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Franklin Gothic Book</vt:lpstr>
      <vt:lpstr>Crop</vt:lpstr>
      <vt:lpstr>Human Benchmark VR</vt:lpstr>
      <vt:lpstr>Main Lobby</vt:lpstr>
      <vt:lpstr>Reaction Time</vt:lpstr>
      <vt:lpstr>Aim Trainer </vt:lpstr>
      <vt:lpstr>Visual Memory</vt:lpstr>
      <vt:lpstr>Reference Game</vt:lpstr>
      <vt:lpstr>Issues we ran into</vt:lpstr>
      <vt:lpstr>Team Member Assignments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Koch, Nikolas Alexander</cp:lastModifiedBy>
  <cp:revision>3</cp:revision>
  <dcterms:modified xsi:type="dcterms:W3CDTF">2025-12-08T19:51:08Z</dcterms:modified>
</cp:coreProperties>
</file>